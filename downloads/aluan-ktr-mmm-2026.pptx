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 dikekalkan daripada pembentangan asal. Angka Scopus diperincikan pada slaid berikutnya. Sumber: https://people.utm.my/murtadha/cv/ (data September 2026; disemak 5 Oktober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Sitasi Scopus = 886, menggantikan 368 sitasi Web of Science. 81 dokumen dan 886 sitasi disahkan pada https://people.utm.my/murtadha/cv/; laman menyatakan data September 2026. Angka 9 calon PhD dan 34 projek dikekalkan daripada fail asal dan tidak disemak semula dalam tugasan reka bentuk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Maksud elemen logo diterjemahkan ke Bahasa Melayu daripada jadual bahasa Inggeris dalam slaid asal. Simbol dikekalkan daripada imej asal; teks dibina semula supaya boleh diedit dan lebih jelas.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Peta kampus dan statistik dikekalkan daripada pembentangan asal. Peta asal beresolusi 876 × 478; label kecil mungkin terhad apabila diperbesar.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Kandungan tatatertib dikekalkan daripada slaid asal; tugasan ini menambah baik penampilan sahaja.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Foto beresolusi rendah telah dipertingkat dengan imagegen. Pembaikan melibatkan kejelasan, pendedahan dan warna; butiran halus hasil AI mungkin berbeza daripada foto sumber. Foto asal dikekalkan dalam folder projek.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Foto beresolusi rendah telah dipertingkat dengan imagegen. Pembaikan melibatkan kejelasan, pendedahan dan warna; butiran halus hasil AI mungkin berbeza daripada foto sumber. Foto asal dikekalkan dalam folder projek.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Foto beresolusi rendah telah dipertingkat dengan imagegen. Pembaikan melibatkan kejelasan, pendedahan dan warna; butiran halus hasil AI mungkin berbeza daripada foto sumber. Foto asal dikekalkan dalam folder projek.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Foto beresolusi rendah telah dipertingkat dengan imagegen. Pembaikan melibatkan kejelasan, pendedahan dan warna; butiran halus hasil AI mungkin berbeza daripada foto sumber. Foto asal dikekalkan dalam folder projek.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Foto beresolusi rendah telah dipertingkat dengan imagegen. Pembaikan melibatkan kejelasan, pendedahan dan warna; butiran halus hasil AI mungkin berbeza daripada foto sumber. Foto asal dikekalkan dalam folder projek.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5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9.jpg"/><Relationship Id="rId5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0C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-revers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7121" y="292608"/>
            <a:ext cx="1577516" cy="512064"/>
          </a:xfrm>
          <a:prstGeom prst="rect">
            <a:avLst/>
          </a:prstGeom>
        </p:spPr>
      </p:pic>
      <p:pic>
        <p:nvPicPr>
          <p:cNvPr id="3" name="Picture 2" descr="ascend-2030-whit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33141" y="310896"/>
            <a:ext cx="1576397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DDAA35"/>
                </a:solidFill>
                <a:latin typeface="Arial"/>
              </a:defRPr>
            </a:pPr>
            <a:r>
              <a:t>SELAMAT DATANG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46634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Universiti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Teknologi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Malaysia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24528"/>
            <a:ext cx="4389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Minggu Mesra Mahasiswa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Sesi 2026/2027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Kolej Tun Razak</a:t>
            </a:r>
          </a:p>
        </p:txBody>
      </p:sp>
      <p:pic>
        <p:nvPicPr>
          <p:cNvPr id="10" name="Picture 9" descr="s01-4100.jpg"/>
          <p:cNvPicPr>
            <a:picLocks noChangeAspect="1"/>
          </p:cNvPicPr>
          <p:nvPr/>
        </p:nvPicPr>
        <p:blipFill>
          <a:blip r:embed="rId4"/>
          <a:srcRect l="1986" r="1986"/>
          <a:stretch>
            <a:fillRect/>
          </a:stretch>
        </p:blipFill>
        <p:spPr>
          <a:xfrm>
            <a:off x="5394960" y="1280160"/>
            <a:ext cx="626364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Aluan Menjalankan Tugas Pengetua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MINGGU MESRA MAHASISWA 2026/2027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65836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400" b="1">
                <a:solidFill>
                  <a:srgbClr val="7D0C26"/>
                </a:solidFill>
                <a:latin typeface="Arial"/>
              </a:defRPr>
            </a:pPr>
            <a:r>
              <a:t>Prof. Madya Dr.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3400" b="1">
                <a:solidFill>
                  <a:srgbClr val="7D0C26"/>
                </a:solidFill>
                <a:latin typeface="Arial"/>
              </a:defRPr>
            </a:pPr>
            <a:r>
              <a:t>Mohd Murtadha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3400" b="1">
                <a:solidFill>
                  <a:srgbClr val="7D0C26"/>
                </a:solidFill>
                <a:latin typeface="Arial"/>
              </a:defRPr>
            </a:pPr>
            <a:r>
              <a:t>bin Mohamad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425696"/>
            <a:ext cx="6492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0">
                <a:solidFill>
                  <a:srgbClr val="242124"/>
                </a:solidFill>
                <a:latin typeface="Arial"/>
              </a:defRPr>
            </a:pPr>
            <a:r>
              <a:t>Menjalankan Tugas Pengetua, Kolej Tun Razak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2100" b="0">
                <a:solidFill>
                  <a:srgbClr val="242124"/>
                </a:solidFill>
                <a:latin typeface="Arial"/>
              </a:defRPr>
            </a:pPr>
            <a:r>
              <a:t>Fakulti Komputeran</a:t>
            </a:r>
          </a:p>
        </p:txBody>
      </p:sp>
      <p:pic>
        <p:nvPicPr>
          <p:cNvPr id="11" name="Picture 10" descr="UTMCOL_KTR-01.png"/>
          <p:cNvPicPr>
            <a:picLocks noChangeAspect="1"/>
          </p:cNvPicPr>
          <p:nvPr/>
        </p:nvPicPr>
        <p:blipFill>
          <a:blip r:embed="rId4"/>
          <a:srcRect l="32875" t="19556" r="32875" b="19556"/>
          <a:stretch>
            <a:fillRect/>
          </a:stretch>
        </p:blipFill>
        <p:spPr>
          <a:xfrm>
            <a:off x="594360" y="5330952"/>
            <a:ext cx="932688" cy="932688"/>
          </a:xfrm>
          <a:prstGeom prst="rect">
            <a:avLst/>
          </a:prstGeom>
        </p:spPr>
      </p:pic>
      <p:pic>
        <p:nvPicPr>
          <p:cNvPr id="12" name="Picture 11" descr="DR M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970520" y="1673352"/>
            <a:ext cx="307848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Profil Menjalankan Tugas Pengetua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10512"/>
            <a:ext cx="2194560" cy="4471416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03-4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32688" y="1984248"/>
            <a:ext cx="1426463" cy="14264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3511296"/>
            <a:ext cx="190195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7D0C26"/>
                </a:solidFill>
                <a:latin typeface="Arial"/>
              </a:defRPr>
            </a:pPr>
            <a:r>
              <a:t>Prof. Madya Dr.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7D0C26"/>
                </a:solidFill>
                <a:latin typeface="Arial"/>
              </a:defRPr>
            </a:pPr>
            <a:r>
              <a:t>Mohd Murtadha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7D0C26"/>
                </a:solidFill>
                <a:latin typeface="Arial"/>
              </a:defRPr>
            </a:pPr>
            <a:r>
              <a:t>bin Mohamad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4489704"/>
            <a:ext cx="190195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7D0C26"/>
                </a:solidFill>
                <a:latin typeface="Arial"/>
              </a:defRPr>
            </a:pPr>
            <a:r>
              <a:t>Menjalankan Tugas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7D0C26"/>
                </a:solidFill>
                <a:latin typeface="Arial"/>
              </a:defRPr>
            </a:pPr>
            <a:r>
              <a:t>Pengetua KTR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7D0C26"/>
                </a:solidFill>
                <a:latin typeface="Arial"/>
              </a:defRPr>
            </a:pPr>
            <a:r>
              <a:t>mulai 1 Oktober 2026</a:t>
            </a:r>
          </a:p>
        </p:txBody>
      </p:sp>
      <p:pic>
        <p:nvPicPr>
          <p:cNvPr id="12" name="Picture 11" descr="QR people.utm.my-murtadha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307592" y="5358384"/>
            <a:ext cx="676656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9224" y="6053328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000" b="0">
                <a:solidFill>
                  <a:srgbClr val="7D0C26"/>
                </a:solidFill>
                <a:latin typeface="Arial"/>
              </a:defRPr>
            </a:pPr>
            <a:r>
              <a:t>people.utm.my/murtadha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865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AKADEMIK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212848"/>
            <a:ext cx="85039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PhD Kejuruteraan Elektrik, Heriot-Watt University, UK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MSc Embedded Systems Engineering, Heriot-Watt University, UK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Sarjana Muda Kejuruteraan (Komputer), UTM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6440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PENGALAMAN KOLEJ DAN PEMBANGUNAN PELAJAR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602736"/>
            <a:ext cx="850392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FELOW Kediaman, Kolej Tun Hussein Onn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Pengetua Kolej Tun Ghafar Baba (2007–2012) dan Kolej Perdana (2012–2015)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Ahli Jawatankuasa Tetap Senat Pembangunan Pelajar dan Alumni (2014–2016)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Pengarah Persidangan Pembangunan Pelajar Kebangsaan NASDEC 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9194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PERANAN SEMASA DAN KEPAKARAN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239512"/>
            <a:ext cx="85039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Penyelaras Program PhD (Sains Komputer), Fakulti Komputeran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Rangkaian sensor wayarles dan akustik bawah air, keselamatan MANET, penentududukan dalaman, perancangan gerakan robot, AI untuk bangunan warisan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0C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-revers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7121" y="292608"/>
            <a:ext cx="1577516" cy="512064"/>
          </a:xfrm>
          <a:prstGeom prst="rect">
            <a:avLst/>
          </a:prstGeom>
        </p:spPr>
      </p:pic>
      <p:pic>
        <p:nvPicPr>
          <p:cNvPr id="3" name="Picture 2" descr="ascend-2030-whit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33141" y="310896"/>
            <a:ext cx="1576397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Penyelidikan dan penyeliaan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49424"/>
            <a:ext cx="2560320" cy="2898648"/>
          </a:xfrm>
          <a:prstGeom prst="roundRect">
            <a:avLst>
              <a:gd name="adj" fmla="val 12000"/>
            </a:avLst>
          </a:prstGeom>
          <a:solidFill>
            <a:srgbClr val="69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88336"/>
            <a:ext cx="219456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6400" b="1">
                <a:solidFill>
                  <a:srgbClr val="DDAA35"/>
                </a:solidFill>
                <a:latin typeface="Arial"/>
              </a:defRPr>
            </a:pPr>
            <a:r>
              <a:t>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22776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penerbitan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Scopus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2249424"/>
            <a:ext cx="2560320" cy="2898648"/>
          </a:xfrm>
          <a:prstGeom prst="roundRect">
            <a:avLst>
              <a:gd name="adj" fmla="val 12000"/>
            </a:avLst>
          </a:prstGeom>
          <a:solidFill>
            <a:srgbClr val="69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2688336"/>
            <a:ext cx="219456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6400" b="1">
                <a:solidFill>
                  <a:srgbClr val="DDAA35"/>
                </a:solidFill>
                <a:latin typeface="Arial"/>
              </a:defRPr>
            </a:pPr>
            <a:r>
              <a:t>886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3922776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sitasi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Scopus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656" y="2249424"/>
            <a:ext cx="2560320" cy="2898648"/>
          </a:xfrm>
          <a:prstGeom prst="roundRect">
            <a:avLst>
              <a:gd name="adj" fmla="val 12000"/>
            </a:avLst>
          </a:prstGeom>
          <a:solidFill>
            <a:srgbClr val="69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4536" y="2688336"/>
            <a:ext cx="219456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6400" b="1">
                <a:solidFill>
                  <a:srgbClr val="DDAA35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3922776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calon PhD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diselia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0304" y="2249424"/>
            <a:ext cx="2560320" cy="2898648"/>
          </a:xfrm>
          <a:prstGeom prst="roundRect">
            <a:avLst>
              <a:gd name="adj" fmla="val 12000"/>
            </a:avLst>
          </a:prstGeom>
          <a:solidFill>
            <a:srgbClr val="69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3184" y="2688336"/>
            <a:ext cx="219456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6400" b="1">
                <a:solidFill>
                  <a:srgbClr val="DDAA35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3922776"/>
            <a:ext cx="2194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projek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penyelidikan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87568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Scopus: data September 2026  |  people.utm.my/murtadha/cv/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Mengenali UTM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56231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MOTO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56231"/>
            <a:ext cx="4572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242124"/>
                </a:solidFill>
                <a:latin typeface="Arial"/>
              </a:defRPr>
            </a:pPr>
            <a:r>
              <a:t>Kerana Tuhan Untuk Manusia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3522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VISI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935224"/>
            <a:ext cx="4572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242124"/>
                </a:solidFill>
                <a:latin typeface="Arial"/>
              </a:defRPr>
            </a:pPr>
            <a:r>
              <a:t>Universiti Terkemuka Menyediakan Pendidikan dan Penyelidikan Bertaraf Dunia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14215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MISI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014215"/>
            <a:ext cx="4572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242124"/>
                </a:solidFill>
                <a:latin typeface="Arial"/>
              </a:defRPr>
            </a:pPr>
            <a:r>
              <a:t>Untuk Membangun Bakat Global dan Mensejahtera Kehidupan Menerusi Ilmu dan Inovasi Teknologi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932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TAGLINE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5093208"/>
            <a:ext cx="4572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242124"/>
                </a:solidFill>
                <a:latin typeface="Arial"/>
              </a:defRPr>
            </a:pPr>
            <a:r>
              <a:t>Innovating Sustainable Solutions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14032" y="1883664"/>
            <a:ext cx="4434840" cy="1764792"/>
          </a:xfrm>
          <a:prstGeom prst="roundRect">
            <a:avLst>
              <a:gd name="adj" fmla="val 12000"/>
            </a:avLst>
          </a:prstGeom>
          <a:solidFill>
            <a:srgbClr val="7D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2" y="2112264"/>
            <a:ext cx="397763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Naib Canselor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2" y="2825496"/>
            <a:ext cx="3977639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Prof. Ts. Dr. Mohd Shafry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bin Mohd Rahim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14032" y="3877056"/>
            <a:ext cx="4434840" cy="2331720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04-16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324344" y="4142232"/>
            <a:ext cx="1042415" cy="10424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13648" y="4123944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7D0C26"/>
                </a:solidFill>
                <a:latin typeface="Arial"/>
              </a:defRPr>
            </a:pPr>
            <a:r>
              <a:t>Timbalan Naib Canselor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7D0C26"/>
                </a:solidFill>
                <a:latin typeface="Arial"/>
              </a:defRPr>
            </a:pPr>
            <a:r>
              <a:t>(Hal Ehwal Pelajar dan Alumni)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5202936"/>
            <a:ext cx="26974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242124"/>
                </a:solidFill>
                <a:latin typeface="Arial"/>
              </a:defRPr>
            </a:pPr>
            <a:r>
              <a:t>Prof. Dr. Mohd Shahrizal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242124"/>
                </a:solidFill>
                <a:latin typeface="Arial"/>
              </a:defRPr>
            </a:pPr>
            <a:r>
              <a:t>bin Sunar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UTM ASCEND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56231"/>
            <a:ext cx="3675887" cy="3776472"/>
          </a:xfrm>
          <a:prstGeom prst="roundRect">
            <a:avLst>
              <a:gd name="adj" fmla="val 12000"/>
            </a:avLst>
          </a:prstGeom>
          <a:solidFill>
            <a:srgbClr val="7D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6712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DDAA35"/>
                </a:solidFill>
                <a:latin typeface="Arial"/>
              </a:defRPr>
            </a:pPr>
            <a:r>
              <a:t>PELAN STRATEGIK UTM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07208"/>
            <a:ext cx="3154680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Top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794760"/>
            <a:ext cx="310896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universiti dunia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2500" b="0">
                <a:solidFill>
                  <a:srgbClr val="FFFFFF"/>
                </a:solidFill>
                <a:latin typeface="Arial"/>
              </a:defRPr>
            </a:pPr>
            <a:r>
              <a:t>menjelang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5129784"/>
            <a:ext cx="315468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DDAA35"/>
                </a:solidFill>
                <a:latin typeface="Arial"/>
              </a:defRPr>
            </a:pPr>
            <a:r>
              <a:t>Dilancarkan Januari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1856231"/>
            <a:ext cx="3291840" cy="1773936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2020824"/>
            <a:ext cx="640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400" b="1">
                <a:solidFill>
                  <a:srgbClr val="DDAA3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450591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Lonjakan Kebitaraan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1856231"/>
            <a:ext cx="3291840" cy="1773936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020824"/>
            <a:ext cx="640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400" b="1">
                <a:solidFill>
                  <a:srgbClr val="DDAA3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450591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Bakat Global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0288" y="3813048"/>
            <a:ext cx="3291840" cy="1773936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8888" y="3977639"/>
            <a:ext cx="640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400" b="1">
                <a:solidFill>
                  <a:srgbClr val="DDAA3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8888" y="4407408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Kemampanan &amp; Kelestarian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3813048"/>
            <a:ext cx="3291840" cy="1773936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3977639"/>
            <a:ext cx="640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400" b="1">
                <a:solidFill>
                  <a:srgbClr val="DDAA35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07408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Kemanusiaan &amp; Kesejahteraan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879592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7D0C26"/>
                </a:solidFill>
                <a:latin typeface="Arial"/>
              </a:defRPr>
            </a:pPr>
            <a:r>
              <a:t>Kesejahteraan mahasiswa dan kebolehpasaran graduan ialah sebahagian daripada aspirasi ASCEND 2030.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Logo UTM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ll-s6-image4.png"/>
          <p:cNvPicPr>
            <a:picLocks noChangeAspect="1"/>
          </p:cNvPicPr>
          <p:nvPr/>
        </p:nvPicPr>
        <p:blipFill>
          <a:blip r:embed="rId4"/>
          <a:srcRect l="40209" t="22000" r="46475" b="68000"/>
          <a:stretch>
            <a:fillRect/>
          </a:stretch>
        </p:blipFill>
        <p:spPr>
          <a:xfrm>
            <a:off x="886968" y="2179320"/>
            <a:ext cx="77724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157984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7D0C26"/>
                </a:solidFill>
                <a:latin typeface="Arial"/>
              </a:defRPr>
            </a:pPr>
            <a:r>
              <a:t>Buku Terbuka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0096" y="2057400"/>
            <a:ext cx="594360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900" b="0">
                <a:solidFill>
                  <a:srgbClr val="242124"/>
                </a:solidFill>
                <a:latin typeface="Arial"/>
              </a:defRPr>
            </a:pPr>
            <a:r>
              <a:t>Melambangkan Al-Quran sebagai sumber ilmu.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926079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ll-s6-image4.png"/>
          <p:cNvPicPr>
            <a:picLocks noChangeAspect="1"/>
          </p:cNvPicPr>
          <p:nvPr/>
        </p:nvPicPr>
        <p:blipFill>
          <a:blip r:embed="rId4"/>
          <a:srcRect l="43473" t="39250" r="50000" b="49000"/>
          <a:stretch>
            <a:fillRect/>
          </a:stretch>
        </p:blipFill>
        <p:spPr>
          <a:xfrm>
            <a:off x="983758" y="3108960"/>
            <a:ext cx="583659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65960" y="3209544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7D0C26"/>
                </a:solidFill>
                <a:latin typeface="Arial"/>
              </a:defRPr>
            </a:pPr>
            <a:r>
              <a:t>Bulatan Emas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3108960"/>
            <a:ext cx="594360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900" b="0">
                <a:solidFill>
                  <a:srgbClr val="242124"/>
                </a:solidFill>
                <a:latin typeface="Arial"/>
              </a:defRPr>
            </a:pPr>
            <a:r>
              <a:t>Melambangkan alam semesta yang diamanahkan oleh Tuhan kepada manusia.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977639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ll-s6-image4.png"/>
          <p:cNvPicPr>
            <a:picLocks noChangeAspect="1"/>
          </p:cNvPicPr>
          <p:nvPr/>
        </p:nvPicPr>
        <p:blipFill>
          <a:blip r:embed="rId4"/>
          <a:srcRect l="44648" t="64500" r="51828" b="27250"/>
          <a:stretch>
            <a:fillRect/>
          </a:stretch>
        </p:blipFill>
        <p:spPr>
          <a:xfrm>
            <a:off x="1051144" y="4160520"/>
            <a:ext cx="448887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965960" y="4261103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7D0C26"/>
                </a:solidFill>
                <a:latin typeface="Arial"/>
              </a:defRPr>
            </a:pPr>
            <a:r>
              <a:t>Kelalang Dasar Bulat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4160520"/>
            <a:ext cx="594360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900" b="0">
                <a:solidFill>
                  <a:srgbClr val="242124"/>
                </a:solidFill>
                <a:latin typeface="Arial"/>
              </a:defRPr>
            </a:pPr>
            <a:r>
              <a:t>Simbol sains yang menjadi asas teknologi.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02920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ill-s6-image4.png"/>
          <p:cNvPicPr>
            <a:picLocks noChangeAspect="1"/>
          </p:cNvPicPr>
          <p:nvPr/>
        </p:nvPicPr>
        <p:blipFill>
          <a:blip r:embed="rId4"/>
          <a:srcRect l="43864" t="84250" r="51436" b="7000"/>
          <a:stretch>
            <a:fillRect/>
          </a:stretch>
        </p:blipFill>
        <p:spPr>
          <a:xfrm>
            <a:off x="993430" y="5212080"/>
            <a:ext cx="564315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965960" y="5312664"/>
            <a:ext cx="31089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7D0C26"/>
                </a:solidFill>
                <a:latin typeface="Arial"/>
              </a:defRPr>
            </a:pPr>
            <a:r>
              <a:t>Bulan Sabit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5212080"/>
            <a:ext cx="594360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900" b="0">
                <a:solidFill>
                  <a:srgbClr val="242124"/>
                </a:solidFill>
                <a:latin typeface="Arial"/>
              </a:defRPr>
            </a:pPr>
            <a:r>
              <a:t>Simbol Islam.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Logo Baharu Kolej Tun Razak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08</a:t>
            </a:r>
          </a:p>
        </p:txBody>
      </p:sp>
      <p:pic>
        <p:nvPicPr>
          <p:cNvPr id="8" name="Picture 7" descr="UTMCOL_KTR-01.png"/>
          <p:cNvPicPr>
            <a:picLocks noChangeAspect="1"/>
          </p:cNvPicPr>
          <p:nvPr/>
        </p:nvPicPr>
        <p:blipFill>
          <a:blip r:embed="rId4"/>
          <a:srcRect l="32875" t="19556" r="32875" b="19556"/>
          <a:stretch>
            <a:fillRect/>
          </a:stretch>
        </p:blipFill>
        <p:spPr>
          <a:xfrm>
            <a:off x="868680" y="1956816"/>
            <a:ext cx="40599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32120" y="2423160"/>
            <a:ext cx="5815584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400" b="1">
                <a:solidFill>
                  <a:srgbClr val="7D0C26"/>
                </a:solidFill>
                <a:latin typeface="Arial"/>
              </a:defRPr>
            </a:pPr>
            <a:r>
              <a:t>Menerajui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3400" b="1">
                <a:solidFill>
                  <a:srgbClr val="7D0C26"/>
                </a:solidFill>
                <a:latin typeface="Arial"/>
              </a:defRPr>
            </a:pPr>
            <a:r>
              <a:t>Kecemerlangan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3794760"/>
            <a:ext cx="581558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800" b="1">
                <a:solidFill>
                  <a:srgbClr val="7D0C26"/>
                </a:solidFill>
                <a:latin typeface="Arial"/>
              </a:defRPr>
            </a:pPr>
            <a:r>
              <a:t>Meniti Kegemilangan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4928616"/>
            <a:ext cx="55778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242124"/>
                </a:solidFill>
                <a:latin typeface="Arial"/>
              </a:defRPr>
            </a:pPr>
            <a:r>
              <a:t>Dirasmikan pada Majlis Perasmian Logo Kolej,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242124"/>
                </a:solidFill>
                <a:latin typeface="Arial"/>
              </a:defRPr>
            </a:pPr>
            <a:r>
              <a:t>Minggu Mesra Mahasiswa, 4 Oktober 2026.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Kolej Kediaman UTM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09</a:t>
            </a:r>
          </a:p>
        </p:txBody>
      </p:sp>
      <p:pic>
        <p:nvPicPr>
          <p:cNvPr id="8" name="Picture 7" descr="s08-2050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1792" y="1930688"/>
            <a:ext cx="7452360" cy="40664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57616" y="1874519"/>
            <a:ext cx="3191256" cy="4224528"/>
          </a:xfrm>
          <a:prstGeom prst="roundRect">
            <a:avLst>
              <a:gd name="adj" fmla="val 12000"/>
            </a:avLst>
          </a:prstGeom>
          <a:solidFill>
            <a:srgbClr val="7D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1936" y="2267712"/>
            <a:ext cx="2642616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4800" b="1">
                <a:solidFill>
                  <a:srgbClr val="DDAA35"/>
                </a:solidFill>
                <a:latin typeface="Arial"/>
              </a:defRPr>
            </a:pPr>
            <a:r>
              <a:t>4,411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1936" y="3264408"/>
            <a:ext cx="2642616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mahasiswa baharu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sesi 2026/2027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1936" y="4379976"/>
            <a:ext cx="2642616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Ditempatkan di 8 kolej: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K9&amp;10, KDSE, KRP, KTC,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KTDI, KTF, KTHO dan KTR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Jabatan TNC (Hal Ehwal Pelajar dan Alumni)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8" name="Picture 7" descr="s04-16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12648" y="178308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73936" y="1856231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7D0C26"/>
                </a:solidFill>
                <a:latin typeface="Arial"/>
              </a:defRPr>
            </a:pPr>
            <a:r>
              <a:t>Prof. Dr. Mohd Shahrizal bin Sunar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" y="2313432"/>
            <a:ext cx="9692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62595D"/>
                </a:solidFill>
                <a:latin typeface="Arial"/>
              </a:defRPr>
            </a:pPr>
            <a:r>
              <a:t>Timbalan Naib Canselor (Hal Ehwal Pelajar dan Alumni)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926080"/>
            <a:ext cx="5349240" cy="521207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017520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Pejabat TNC (HEPA) dan Pentadbiran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926080"/>
            <a:ext cx="5349240" cy="521207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3017520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Pembangunan dan Aktiviti Pelajar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3584448"/>
            <a:ext cx="5349240" cy="521207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675887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Pusat Kesihatan Universiti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3584448"/>
            <a:ext cx="5349240" cy="521207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675887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Kemudahan, Kebajikan dan Tatatertib Pelajar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4242816"/>
            <a:ext cx="5349240" cy="521207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334256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UTMPeace (kaunseling)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4242816"/>
            <a:ext cx="5349240" cy="521207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4334256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UTM Career Centre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4901184"/>
            <a:ext cx="5349240" cy="521207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992624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University Sport Excellence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4901184"/>
            <a:ext cx="5349240" cy="521207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4992624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242124"/>
                </a:solidFill>
                <a:latin typeface="Arial"/>
              </a:defRPr>
            </a:pPr>
            <a:r>
              <a:t>Pusat Inovasi Mahasiswa dan Keusahawanan Teknologi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5559552"/>
            <a:ext cx="5349240" cy="521207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650992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UTM Alumni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5559552"/>
            <a:ext cx="5349240" cy="521207"/>
          </a:xfrm>
          <a:prstGeom prst="roundRect">
            <a:avLst>
              <a:gd name="adj" fmla="val 12000"/>
            </a:avLst>
          </a:prstGeom>
          <a:solidFill>
            <a:srgbClr val="7D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5650992"/>
            <a:ext cx="4983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Pejabat Kolej Kediaman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Pentadbiran Kolej Tun Razak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65376"/>
            <a:ext cx="5257800" cy="1600200"/>
          </a:xfrm>
          <a:prstGeom prst="roundRect">
            <a:avLst>
              <a:gd name="adj" fmla="val 12000"/>
            </a:avLst>
          </a:prstGeom>
          <a:solidFill>
            <a:srgbClr val="7D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93976"/>
            <a:ext cx="4800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Pembangunan dan Kebajikan Pelajar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07208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Jabatan TNC (Hal Ehwal Pelajar dan Alumni)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657600"/>
            <a:ext cx="5257800" cy="48463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749039"/>
            <a:ext cx="48371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7D0C26"/>
                </a:solidFill>
                <a:latin typeface="Arial"/>
              </a:defRPr>
            </a:pPr>
            <a:r>
              <a:t>Menjalankan Tugas Pengetua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97680"/>
            <a:ext cx="5257800" cy="48463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389120"/>
            <a:ext cx="48371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7D0C26"/>
                </a:solidFill>
                <a:latin typeface="Arial"/>
              </a:defRPr>
            </a:pPr>
            <a:r>
              <a:t>Majlis FELOW dan PEMBANTU FELOW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937760"/>
            <a:ext cx="5257800" cy="48463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029200"/>
            <a:ext cx="48371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7D0C26"/>
                </a:solidFill>
                <a:latin typeface="Arial"/>
              </a:defRPr>
            </a:pPr>
            <a:r>
              <a:t>Jawatankuasa Kolej Pelajar (JKP)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1865376"/>
            <a:ext cx="5257800" cy="1600200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093976"/>
            <a:ext cx="4800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Kemudahan Penginapan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807208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242124"/>
                </a:solidFill>
                <a:latin typeface="Arial"/>
              </a:defRPr>
            </a:pPr>
            <a:r>
              <a:t>Jabatan TNC (Pembangunan)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3657600"/>
            <a:ext cx="5257800" cy="484632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3749039"/>
            <a:ext cx="48371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7D0C26"/>
                </a:solidFill>
                <a:latin typeface="Arial"/>
              </a:defRPr>
            </a:pPr>
            <a:r>
              <a:t>Penolong Pegawai Tadbir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4297680"/>
            <a:ext cx="5257800" cy="484632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4389120"/>
            <a:ext cx="48371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7D0C26"/>
                </a:solidFill>
                <a:latin typeface="Arial"/>
              </a:defRPr>
            </a:pPr>
            <a:r>
              <a:t>Pembantu Tadbir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36792" y="4937760"/>
            <a:ext cx="5257800" cy="484632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5029200"/>
            <a:ext cx="48371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7D0C26"/>
                </a:solidFill>
                <a:latin typeface="Arial"/>
              </a:defRPr>
            </a:pPr>
            <a:r>
              <a:t>Pembantu Khidmat 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93445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7D0C26"/>
                </a:solidFill>
                <a:latin typeface="Arial"/>
              </a:defRPr>
            </a:pPr>
            <a:r>
              <a:t>Kedua-dua cabang bekerjasama di bawah Menjalankan Tugas Pengetua untuk kesejahteraan mahasiswa di kolej.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Menjalankan Tugas Pengetua dan Majlis FELOW 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8" name="Picture 7" descr="s03-4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8368" y="1810512"/>
            <a:ext cx="1188720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21408" y="2011680"/>
            <a:ext cx="9144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7D0C26"/>
                </a:solidFill>
                <a:latin typeface="Arial"/>
              </a:defRPr>
            </a:pPr>
            <a:r>
              <a:t>Prof. Madya Dr. Mohd Murtadha bin Mohamad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606040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62595D"/>
                </a:solidFill>
                <a:latin typeface="Arial"/>
              </a:defRPr>
            </a:pPr>
            <a:r>
              <a:t>Menjalankan Tugas Pengetua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FELOW — SESI 2026/2027</a:t>
            </a:r>
          </a:p>
        </p:txBody>
      </p:sp>
      <p:pic>
        <p:nvPicPr>
          <p:cNvPr id="12" name="Picture 11" descr="s11-7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82979" y="3831336"/>
            <a:ext cx="1234440" cy="1234440"/>
          </a:xfrm>
          <a:prstGeom prst="ellipse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184648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42124"/>
                </a:solidFill>
                <a:latin typeface="Arial"/>
              </a:defRPr>
            </a:pPr>
            <a:r>
              <a:t>Dr. Nur Fatihah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42124"/>
                </a:solidFill>
                <a:latin typeface="Arial"/>
              </a:defRPr>
            </a:pPr>
            <a:r>
              <a:t>binti Raimi</a:t>
            </a:r>
          </a:p>
        </p:txBody>
      </p:sp>
      <p:pic>
        <p:nvPicPr>
          <p:cNvPr id="14" name="Picture 13" descr="s11-10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241548" y="3831336"/>
            <a:ext cx="1234440" cy="1234440"/>
          </a:xfrm>
          <a:prstGeom prst="ellipse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07208" y="5184648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42124"/>
                </a:solidFill>
                <a:latin typeface="Arial"/>
              </a:defRPr>
            </a:pPr>
            <a:r>
              <a:t>En. Hemnaarth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42124"/>
                </a:solidFill>
                <a:latin typeface="Arial"/>
              </a:defRPr>
            </a:pPr>
            <a:r>
              <a:t>a/l Tanakaran</a:t>
            </a:r>
          </a:p>
        </p:txBody>
      </p:sp>
      <p:pic>
        <p:nvPicPr>
          <p:cNvPr id="16" name="Picture 15" descr="s11-13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500116" y="3831336"/>
            <a:ext cx="1234440" cy="1234440"/>
          </a:xfrm>
          <a:prstGeom prst="ellipse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65776" y="5184648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42124"/>
                </a:solidFill>
                <a:latin typeface="Arial"/>
              </a:defRPr>
            </a:pPr>
            <a:r>
              <a:t>En. Amirul Azan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42124"/>
                </a:solidFill>
                <a:latin typeface="Arial"/>
              </a:defRPr>
            </a:pPr>
            <a:r>
              <a:t>bin Mohd Sufian</a:t>
            </a:r>
          </a:p>
        </p:txBody>
      </p:sp>
      <p:pic>
        <p:nvPicPr>
          <p:cNvPr id="18" name="Picture 17" descr="s11-16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758683" y="3831336"/>
            <a:ext cx="1234440" cy="1234440"/>
          </a:xfrm>
          <a:prstGeom prst="ellipse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24344" y="5184648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42124"/>
                </a:solidFill>
                <a:latin typeface="Arial"/>
              </a:defRPr>
            </a:pPr>
            <a:r>
              <a:t>En. Ahmad Basyeer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42124"/>
                </a:solidFill>
                <a:latin typeface="Arial"/>
              </a:defRPr>
            </a:pPr>
            <a:r>
              <a:t>bin Madzlan</a:t>
            </a:r>
          </a:p>
        </p:txBody>
      </p:sp>
      <p:pic>
        <p:nvPicPr>
          <p:cNvPr id="20" name="Picture 19" descr="s11-19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017252" y="3831336"/>
            <a:ext cx="1234440" cy="1234440"/>
          </a:xfrm>
          <a:prstGeom prst="ellipse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82912" y="5184648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42124"/>
                </a:solidFill>
                <a:latin typeface="Arial"/>
              </a:defRPr>
            </a:pPr>
            <a:r>
              <a:t>En. Amirul Hanif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42124"/>
                </a:solidFill>
                <a:latin typeface="Arial"/>
              </a:defRPr>
            </a:pPr>
            <a:r>
              <a:t>bin Md Tahir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PEMBANTU FELOW KTR 2026/2027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13</a:t>
            </a:r>
          </a:p>
        </p:txBody>
      </p:sp>
      <p:pic>
        <p:nvPicPr>
          <p:cNvPr id="8" name="Picture 7" descr="s11-23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37259" y="1828800"/>
            <a:ext cx="1234440" cy="1234440"/>
          </a:xfrm>
          <a:prstGeom prst="ellipse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182112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En. Najmuddin Shah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bin Zaid</a:t>
            </a:r>
          </a:p>
        </p:txBody>
      </p:sp>
      <p:pic>
        <p:nvPicPr>
          <p:cNvPr id="10" name="Picture 9" descr="s11-26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04972" y="1828800"/>
            <a:ext cx="1234440" cy="1234440"/>
          </a:xfrm>
          <a:prstGeom prst="ellipse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70632" y="3182112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En. Ahmad Syakir Farhan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bin A Kassim</a:t>
            </a:r>
          </a:p>
        </p:txBody>
      </p:sp>
      <p:pic>
        <p:nvPicPr>
          <p:cNvPr id="12" name="Picture 11" descr="s11-29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472683" y="1828800"/>
            <a:ext cx="1234440" cy="1234440"/>
          </a:xfrm>
          <a:prstGeom prst="ellipse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38344" y="3182112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En. Muhammad Daniel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bin Hamdan</a:t>
            </a:r>
          </a:p>
        </p:txBody>
      </p:sp>
      <p:pic>
        <p:nvPicPr>
          <p:cNvPr id="14" name="Picture 13" descr="s11-32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740396" y="1828800"/>
            <a:ext cx="1234440" cy="1234440"/>
          </a:xfrm>
          <a:prstGeom prst="ellipse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06055" y="3182112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En. Noorafham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bin Nooraznan</a:t>
            </a:r>
          </a:p>
        </p:txBody>
      </p:sp>
      <p:pic>
        <p:nvPicPr>
          <p:cNvPr id="16" name="Picture 15" descr="s11-35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008108" y="1828800"/>
            <a:ext cx="1234440" cy="1234440"/>
          </a:xfrm>
          <a:prstGeom prst="ellipse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73768" y="3182112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En. Muhammad Aidil Syahmi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bin Hamidi</a:t>
            </a:r>
          </a:p>
        </p:txBody>
      </p:sp>
      <p:pic>
        <p:nvPicPr>
          <p:cNvPr id="18" name="Picture 17" descr="s11-38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2034539" y="4169663"/>
            <a:ext cx="1234440" cy="1234440"/>
          </a:xfrm>
          <a:prstGeom prst="ellipse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00200" y="5522975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En. Muhammad Rafiq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bin Mohd Zulkefli</a:t>
            </a:r>
          </a:p>
        </p:txBody>
      </p:sp>
      <p:pic>
        <p:nvPicPr>
          <p:cNvPr id="20" name="Picture 19" descr="s11-41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302252" y="4169663"/>
            <a:ext cx="1234440" cy="1234440"/>
          </a:xfrm>
          <a:prstGeom prst="ellipse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67912" y="5522975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Cik Norlila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binti Amin Chng</a:t>
            </a:r>
          </a:p>
        </p:txBody>
      </p:sp>
      <p:pic>
        <p:nvPicPr>
          <p:cNvPr id="22" name="Picture 21" descr="s11-44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569964" y="4169663"/>
            <a:ext cx="1234440" cy="1234440"/>
          </a:xfrm>
          <a:prstGeom prst="ellipse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35624" y="5522975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Cik Hanis Najwa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binti Roseni</a:t>
            </a:r>
          </a:p>
        </p:txBody>
      </p:sp>
      <p:pic>
        <p:nvPicPr>
          <p:cNvPr id="24" name="Picture 23" descr="s11-47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8837676" y="4169663"/>
            <a:ext cx="1234440" cy="1234440"/>
          </a:xfrm>
          <a:prstGeom prst="ellipse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03336" y="5522975"/>
            <a:ext cx="2103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Cik Siti Nur Aisyah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42124"/>
                </a:solidFill>
                <a:latin typeface="Arial"/>
              </a:defRPr>
            </a:pPr>
            <a:r>
              <a:t>binti Mohd Azmi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Pengurusan Kolej KTR 2026/2027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14</a:t>
            </a:r>
          </a:p>
        </p:txBody>
      </p:sp>
      <p:pic>
        <p:nvPicPr>
          <p:cNvPr id="8" name="Picture 7" descr="s12-3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94944" y="1837943"/>
            <a:ext cx="1188720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67128" y="2029968"/>
            <a:ext cx="9144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7D0C26"/>
                </a:solidFill>
                <a:latin typeface="Arial"/>
              </a:defRPr>
            </a:pPr>
            <a:r>
              <a:t>Pn. Ema Razrina binti Ambayah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2624328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62595D"/>
                </a:solidFill>
                <a:latin typeface="Arial"/>
              </a:defRPr>
            </a:pPr>
            <a:r>
              <a:t>Penolong Pegawai Tadbir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101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PEMBANTU TADBIR</a:t>
            </a:r>
          </a:p>
        </p:txBody>
      </p:sp>
      <p:pic>
        <p:nvPicPr>
          <p:cNvPr id="12" name="Picture 11" descr="s12-7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837943" y="3858768"/>
            <a:ext cx="1234440" cy="1234440"/>
          </a:xfrm>
          <a:prstGeom prst="ellipse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97864" y="5212079"/>
            <a:ext cx="2514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42124"/>
                </a:solidFill>
                <a:latin typeface="Arial"/>
              </a:defRPr>
            </a:pPr>
            <a:r>
              <a:t>Pn. Faiznureza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42124"/>
                </a:solidFill>
                <a:latin typeface="Arial"/>
              </a:defRPr>
            </a:pPr>
            <a:r>
              <a:t>binti Mohamad Pauzi</a:t>
            </a:r>
          </a:p>
        </p:txBody>
      </p:sp>
      <p:pic>
        <p:nvPicPr>
          <p:cNvPr id="14" name="Picture 13" descr="s12-10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486400" y="3858768"/>
            <a:ext cx="1234440" cy="1234440"/>
          </a:xfrm>
          <a:prstGeom prst="ellipse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46320" y="5212079"/>
            <a:ext cx="2514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42124"/>
                </a:solidFill>
                <a:latin typeface="Arial"/>
              </a:defRPr>
            </a:pPr>
            <a:r>
              <a:t>En. Mohd Noor Azhari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42124"/>
                </a:solidFill>
                <a:latin typeface="Arial"/>
              </a:defRPr>
            </a:pPr>
            <a:r>
              <a:t>bin Sa’ari</a:t>
            </a:r>
          </a:p>
        </p:txBody>
      </p:sp>
      <p:pic>
        <p:nvPicPr>
          <p:cNvPr id="16" name="Picture 15" descr="s12-13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134856" y="3858768"/>
            <a:ext cx="1234440" cy="1234440"/>
          </a:xfrm>
          <a:prstGeom prst="ellipse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94776" y="5212079"/>
            <a:ext cx="2514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42124"/>
                </a:solidFill>
                <a:latin typeface="Arial"/>
              </a:defRPr>
            </a:pPr>
            <a:r>
              <a:t>En. Hamsin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42124"/>
                </a:solidFill>
                <a:latin typeface="Arial"/>
              </a:defRPr>
            </a:pPr>
            <a:r>
              <a:t>bin Hassan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Pembantu Khidmat Am KTR 2026/2027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PENGURUSAN KOLEJ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2468880"/>
            <a:ext cx="2514600" cy="3337560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2-17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08176" y="2816352"/>
            <a:ext cx="1234440" cy="1234440"/>
          </a:xfrm>
          <a:prstGeom prst="ellipse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" y="4169664"/>
            <a:ext cx="2514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42124"/>
                </a:solidFill>
                <a:latin typeface="Arial"/>
              </a:defRPr>
            </a:pPr>
            <a:r>
              <a:t>En. Muhammad Faiz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42124"/>
                </a:solidFill>
                <a:latin typeface="Arial"/>
              </a:defRPr>
            </a:pPr>
            <a:r>
              <a:t>bin Mohd Zaini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0168" y="2468880"/>
            <a:ext cx="2514600" cy="3337560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12-20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70248" y="2816352"/>
            <a:ext cx="1234440" cy="1234440"/>
          </a:xfrm>
          <a:prstGeom prst="ellipse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30168" y="4169664"/>
            <a:ext cx="2514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42124"/>
                </a:solidFill>
                <a:latin typeface="Arial"/>
              </a:defRPr>
            </a:pPr>
            <a:r>
              <a:t>En. Harizat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42124"/>
                </a:solidFill>
                <a:latin typeface="Arial"/>
              </a:defRPr>
            </a:pPr>
            <a:r>
              <a:t>bin Shawal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468880"/>
            <a:ext cx="2514600" cy="3337560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12-23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132320" y="2816352"/>
            <a:ext cx="1234440" cy="1234440"/>
          </a:xfrm>
          <a:prstGeom prst="ellipse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92240" y="4169664"/>
            <a:ext cx="2514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42124"/>
                </a:solidFill>
                <a:latin typeface="Arial"/>
              </a:defRPr>
            </a:pPr>
            <a:r>
              <a:t>Pn. Atipah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42124"/>
                </a:solidFill>
                <a:latin typeface="Arial"/>
              </a:defRPr>
            </a:pPr>
            <a:r>
              <a:t>binti Karim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54312" y="2468880"/>
            <a:ext cx="2514600" cy="3337560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12-26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994392" y="2816352"/>
            <a:ext cx="1234440" cy="1234440"/>
          </a:xfrm>
          <a:prstGeom prst="ellipse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54312" y="4169664"/>
            <a:ext cx="25146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42124"/>
                </a:solidFill>
                <a:latin typeface="Arial"/>
              </a:defRPr>
            </a:pPr>
            <a:r>
              <a:t>En. Khairul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42124"/>
                </a:solidFill>
                <a:latin typeface="Arial"/>
              </a:defRPr>
            </a:pPr>
            <a:r>
              <a:t>bin Ali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Mahasiswa Baharu KTR 2026/2027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47672"/>
            <a:ext cx="3657600" cy="3200400"/>
          </a:xfrm>
          <a:prstGeom prst="roundRect">
            <a:avLst>
              <a:gd name="adj" fmla="val 12000"/>
            </a:avLst>
          </a:prstGeom>
          <a:solidFill>
            <a:srgbClr val="7D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320040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7600" b="1">
                <a:solidFill>
                  <a:srgbClr val="FFFFFF"/>
                </a:solidFill>
                <a:latin typeface="Arial"/>
              </a:defRPr>
            </a:pPr>
            <a:r>
              <a:t>373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320040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mahasiswa baharu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melapor diri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12264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300" b="1">
                <a:solidFill>
                  <a:srgbClr val="7D0C26"/>
                </a:solidFill>
                <a:latin typeface="Arial"/>
              </a:defRPr>
            </a:pPr>
            <a:r>
              <a:t>Lelaki  75%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743200"/>
            <a:ext cx="5486400" cy="365760"/>
          </a:xfrm>
          <a:prstGeom prst="rect">
            <a:avLst/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2743200"/>
            <a:ext cx="4114800" cy="365760"/>
          </a:xfrm>
          <a:prstGeom prst="rect">
            <a:avLst/>
          </a:prstGeom>
          <a:solidFill>
            <a:srgbClr val="7D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25328" y="2670048"/>
            <a:ext cx="923544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800" b="1">
                <a:solidFill>
                  <a:srgbClr val="7D0C26"/>
                </a:solidFill>
                <a:latin typeface="Arial"/>
              </a:defRPr>
            </a:pPr>
            <a:r>
              <a:t>280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822191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300" b="1">
                <a:solidFill>
                  <a:srgbClr val="7D0C26"/>
                </a:solidFill>
                <a:latin typeface="Arial"/>
              </a:defRPr>
            </a:pPr>
            <a:r>
              <a:t>Perempuan  25%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4453127"/>
            <a:ext cx="5486400" cy="365760"/>
          </a:xfrm>
          <a:prstGeom prst="rect">
            <a:avLst/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4453127"/>
            <a:ext cx="1371600" cy="365760"/>
          </a:xfrm>
          <a:prstGeom prst="rect">
            <a:avLst/>
          </a:prstGeom>
          <a:solidFill>
            <a:srgbClr val="DDA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25328" y="4379976"/>
            <a:ext cx="923544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800" b="1">
                <a:solidFill>
                  <a:srgbClr val="7D0C26"/>
                </a:solidFill>
                <a:latin typeface="Arial"/>
              </a:defRPr>
            </a:pPr>
            <a:r>
              <a:t>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522976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BLOK PENEMPATAN MAHASISWA BAHARU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38544" y="5486400"/>
            <a:ext cx="1051560" cy="539496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5596128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K11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0416" y="5486400"/>
            <a:ext cx="1051560" cy="539496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0416" y="5596128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K21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2288" y="5486400"/>
            <a:ext cx="1051560" cy="539496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5596128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K22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24159" y="5486400"/>
            <a:ext cx="1051560" cy="539496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59" y="5596128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K26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Jenis Bilik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9384"/>
            <a:ext cx="3538728" cy="2551176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9397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400" b="1">
                <a:solidFill>
                  <a:srgbClr val="DDAA3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23744"/>
            <a:ext cx="308152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Bilik Seorang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11296"/>
            <a:ext cx="3081528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242124"/>
                </a:solidFill>
                <a:latin typeface="Arial"/>
              </a:defRPr>
            </a:pPr>
            <a:r>
              <a:t>Lelaki dan Perempuan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929384"/>
            <a:ext cx="3538728" cy="2551176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09397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400" b="1">
                <a:solidFill>
                  <a:srgbClr val="DDAA3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523744"/>
            <a:ext cx="308152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Bilik Berdua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3511296"/>
            <a:ext cx="3081528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242124"/>
                </a:solidFill>
                <a:latin typeface="Arial"/>
              </a:defRPr>
            </a:pPr>
            <a:r>
              <a:t>Lelaki dan Perempuan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7032" y="1929384"/>
            <a:ext cx="3538728" cy="2551176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2093976"/>
            <a:ext cx="640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400" b="1">
                <a:solidFill>
                  <a:srgbClr val="DDAA3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523744"/>
            <a:ext cx="308152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Bilik Seorang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dengan Bilik 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3511296"/>
            <a:ext cx="3081528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242124"/>
                </a:solidFill>
                <a:latin typeface="Arial"/>
              </a:defRPr>
            </a:pPr>
            <a:r>
              <a:t>Lelaki sahaja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709160"/>
            <a:ext cx="10972800" cy="859536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4892040"/>
            <a:ext cx="350215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7D0C26"/>
                </a:solidFill>
                <a:latin typeface="Arial"/>
              </a:defRPr>
            </a:pPr>
            <a:r>
              <a:t>Kelengkapan setiap bilik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4910328"/>
            <a:ext cx="698601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242124"/>
                </a:solidFill>
                <a:latin typeface="Arial"/>
              </a:defRPr>
            </a:pPr>
            <a:r>
              <a:t>Meja dan kerusi belajar  |  Katil dan tilam  |  Almari pakaian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907024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7D0C26"/>
                </a:solidFill>
                <a:latin typeface="Arial"/>
              </a:defRPr>
            </a:pPr>
            <a:r>
              <a:t>Mahasiswa baharu ditempatkan di bilik berdua. Bilik tidak boleh dipilih.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Blok Kediaman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SESI 2026/2027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86000"/>
            <a:ext cx="4800600" cy="1234440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14016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7D0C26"/>
                </a:solidFill>
                <a:latin typeface="Arial"/>
              </a:defRPr>
            </a:pPr>
            <a:r>
              <a:t>Mahasiswa baharu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71216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242124"/>
                </a:solidFill>
                <a:latin typeface="Arial"/>
              </a:defRPr>
            </a:pPr>
            <a:r>
              <a:t>Blok K11, K21, K22 dan K26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94176"/>
            <a:ext cx="4800600" cy="1060704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22191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7D0C26"/>
                </a:solidFill>
                <a:latin typeface="Arial"/>
              </a:defRPr>
            </a:pPr>
            <a:r>
              <a:t>Ditutup sepanjang sesi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79392"/>
            <a:ext cx="4343400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242124"/>
                </a:solidFill>
                <a:latin typeface="Arial"/>
              </a:defRPr>
            </a:pPr>
            <a:r>
              <a:t>Blok K13 hingga K18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928616"/>
            <a:ext cx="4800600" cy="1060704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056631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7D0C26"/>
                </a:solidFill>
                <a:latin typeface="Arial"/>
              </a:defRPr>
            </a:pPr>
            <a:r>
              <a:t>Ditutup pada Semester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13831"/>
            <a:ext cx="4343400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242124"/>
                </a:solidFill>
                <a:latin typeface="Arial"/>
              </a:defRPr>
            </a:pPr>
            <a:r>
              <a:t>Blok K04, K06, K07 dan K09</a:t>
            </a:r>
          </a:p>
        </p:txBody>
      </p:sp>
      <p:pic>
        <p:nvPicPr>
          <p:cNvPr id="18" name="Picture 17" descr="block-1.png"/>
          <p:cNvPicPr>
            <a:picLocks noChangeAspect="1"/>
          </p:cNvPicPr>
          <p:nvPr/>
        </p:nvPicPr>
        <p:blipFill>
          <a:blip r:embed="rId4"/>
          <a:srcRect l="25135" r="25135"/>
          <a:stretch>
            <a:fillRect/>
          </a:stretch>
        </p:blipFill>
        <p:spPr>
          <a:xfrm>
            <a:off x="5669280" y="1865376"/>
            <a:ext cx="2807208" cy="4233672"/>
          </a:xfrm>
          <a:prstGeom prst="rect">
            <a:avLst/>
          </a:prstGeom>
        </p:spPr>
      </p:pic>
      <p:pic>
        <p:nvPicPr>
          <p:cNvPr id="19" name="Picture 18" descr="block-2.png"/>
          <p:cNvPicPr>
            <a:picLocks noChangeAspect="1"/>
          </p:cNvPicPr>
          <p:nvPr/>
        </p:nvPicPr>
        <p:blipFill>
          <a:blip r:embed="rId5"/>
          <a:srcRect l="24747" r="24747"/>
          <a:stretch>
            <a:fillRect/>
          </a:stretch>
        </p:blipFill>
        <p:spPr>
          <a:xfrm>
            <a:off x="8686800" y="1865376"/>
            <a:ext cx="2852928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Rumah FELOW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83664"/>
            <a:ext cx="960120" cy="539496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960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K03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1883664"/>
            <a:ext cx="960120" cy="539496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993392"/>
            <a:ext cx="960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K05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883664"/>
            <a:ext cx="960120" cy="539496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993392"/>
            <a:ext cx="960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K10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1883664"/>
            <a:ext cx="960120" cy="539496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1993392"/>
            <a:ext cx="960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K33</a:t>
            </a:r>
          </a:p>
        </p:txBody>
      </p:sp>
      <p:pic>
        <p:nvPicPr>
          <p:cNvPr id="16" name="Picture 15" descr="houses.png"/>
          <p:cNvPicPr>
            <a:picLocks noChangeAspect="1"/>
          </p:cNvPicPr>
          <p:nvPr/>
        </p:nvPicPr>
        <p:blipFill>
          <a:blip r:embed="rId4"/>
          <a:srcRect t="14818" b="14818"/>
          <a:stretch>
            <a:fillRect/>
          </a:stretch>
        </p:blipFill>
        <p:spPr>
          <a:xfrm>
            <a:off x="594360" y="2660904"/>
            <a:ext cx="10972800" cy="30358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92531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7D0C26"/>
                </a:solidFill>
                <a:latin typeface="Arial"/>
              </a:defRPr>
            </a:pPr>
            <a:r>
              <a:t>K33 akan menempatkan Menjalankan Tugas Pengetua sementara K20 (kediaman semasa) diselenggara.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Kemudahan Kolej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9384"/>
            <a:ext cx="1993392" cy="85039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39696"/>
            <a:ext cx="16824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7D0C26"/>
                </a:solidFill>
                <a:latin typeface="Arial"/>
              </a:defRPr>
            </a:pPr>
            <a:r>
              <a:t>Surau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1929384"/>
            <a:ext cx="1993392" cy="85039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8376" y="2139696"/>
            <a:ext cx="16824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7D0C26"/>
                </a:solidFill>
                <a:latin typeface="Arial"/>
              </a:defRPr>
            </a:pPr>
            <a:r>
              <a:t>Wi-Fi kampus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08376"/>
            <a:ext cx="1993392" cy="85039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6824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7D0C26"/>
                </a:solidFill>
                <a:latin typeface="Arial"/>
              </a:defRPr>
            </a:pPr>
            <a:r>
              <a:t>Kafeteria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2928" y="3008376"/>
            <a:ext cx="1993392" cy="85039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8376" y="3218688"/>
            <a:ext cx="16824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7D0C26"/>
                </a:solidFill>
                <a:latin typeface="Arial"/>
              </a:defRPr>
            </a:pPr>
            <a:r>
              <a:t>Bilik perbincangan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087368"/>
            <a:ext cx="1993392" cy="85039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297680"/>
            <a:ext cx="16824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7D0C26"/>
                </a:solidFill>
                <a:latin typeface="Arial"/>
              </a:defRPr>
            </a:pPr>
            <a:r>
              <a:t>Dewan serbaguna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8" y="4087368"/>
            <a:ext cx="1993392" cy="85039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08376" y="4297680"/>
            <a:ext cx="16824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7D0C26"/>
                </a:solidFill>
                <a:latin typeface="Arial"/>
              </a:defRPr>
            </a:pPr>
            <a:r>
              <a:t>Gelanggang sukan</a:t>
            </a:r>
          </a:p>
        </p:txBody>
      </p:sp>
      <p:pic>
        <p:nvPicPr>
          <p:cNvPr id="20" name="Picture 19" descr="hall.png"/>
          <p:cNvPicPr>
            <a:picLocks noChangeAspect="1"/>
          </p:cNvPicPr>
          <p:nvPr/>
        </p:nvPicPr>
        <p:blipFill>
          <a:blip r:embed="rId4"/>
          <a:srcRect t="12854" b="12854"/>
          <a:stretch>
            <a:fillRect/>
          </a:stretch>
        </p:blipFill>
        <p:spPr>
          <a:xfrm>
            <a:off x="5330952" y="1920240"/>
            <a:ext cx="6236208" cy="34747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0952" y="5486400"/>
            <a:ext cx="623620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7D0C26"/>
                </a:solidFill>
                <a:latin typeface="Arial"/>
              </a:defRPr>
            </a:pPr>
            <a:r>
              <a:t>Dewan Serbaguna: tempahan melalui Pejabat Kolej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870448"/>
            <a:ext cx="10972800" cy="448056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96188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Kerosakan lampu, kipas, paip, perabot, pintu atau kunci? Imbas QR Aduan Kerosakan yang dipamerkan di blok.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Pembangunan Mahasiswa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37943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02536"/>
            <a:ext cx="548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7D0C2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1947672"/>
            <a:ext cx="9646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7D0C26"/>
                </a:solidFill>
                <a:latin typeface="Arial"/>
              </a:defRPr>
            </a:pPr>
            <a:r>
              <a:t>Majlis Perwakilan Pelajar (MPP)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286000"/>
            <a:ext cx="9646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242124"/>
                </a:solidFill>
                <a:latin typeface="Arial"/>
              </a:defRPr>
            </a:pPr>
            <a:r>
              <a:t>Suara mahasiswa di peringkat universiti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06624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871216"/>
            <a:ext cx="548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7D0C2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2816352"/>
            <a:ext cx="9646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7D0C26"/>
                </a:solidFill>
                <a:latin typeface="Arial"/>
              </a:defRPr>
            </a:pPr>
            <a:r>
              <a:t>Jawatankuasa Kolej Pelajar KTR (JKP)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154680"/>
            <a:ext cx="9646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242124"/>
                </a:solidFill>
                <a:latin typeface="Arial"/>
              </a:defRPr>
            </a:pPr>
            <a:r>
              <a:t>Penggerak aktiviti dan kebajikan di kolej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75303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39896"/>
            <a:ext cx="548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7D0C2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685031"/>
            <a:ext cx="9646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7D0C26"/>
                </a:solidFill>
                <a:latin typeface="Arial"/>
              </a:defRPr>
            </a:pPr>
            <a:r>
              <a:t>Kelab dan Persatuan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4023359"/>
            <a:ext cx="9646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242124"/>
                </a:solidFill>
                <a:latin typeface="Arial"/>
              </a:defRPr>
            </a:pPr>
            <a:r>
              <a:t>Bakat, minat dan kepimpinan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443983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608575"/>
            <a:ext cx="548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7D0C2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4553712"/>
            <a:ext cx="9646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7D0C26"/>
                </a:solidFill>
                <a:latin typeface="Arial"/>
              </a:defRPr>
            </a:pPr>
            <a:r>
              <a:t>Pusat Inovasi Mahasiswa dan Keusahawanan Teknologi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892040"/>
            <a:ext cx="9646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242124"/>
                </a:solidFill>
                <a:latin typeface="Arial"/>
              </a:defRPr>
            </a:pPr>
            <a:r>
              <a:t>Idea, inovasi dan keusahawanan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312664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477255"/>
            <a:ext cx="548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7D0C2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422392"/>
            <a:ext cx="9646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7D0C26"/>
                </a:solidFill>
                <a:latin typeface="Arial"/>
              </a:defRPr>
            </a:pPr>
            <a:r>
              <a:t>Mobiliti Pelajar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5760720"/>
            <a:ext cx="9646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242124"/>
                </a:solidFill>
                <a:latin typeface="Arial"/>
              </a:defRPr>
            </a:pPr>
            <a:r>
              <a:t>Pengalaman antarabangsa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Perkhidmatan Sokongan Mahasiswa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3511296" cy="1984248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Pusat Kesihatan Universiti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90672"/>
            <a:ext cx="305409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242124"/>
                </a:solidFill>
                <a:latin typeface="Arial"/>
              </a:defRPr>
            </a:pPr>
            <a:r>
              <a:t>Rawatan dan kesihatan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74519"/>
            <a:ext cx="3511296" cy="1984248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103120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UTMPeace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3090672"/>
            <a:ext cx="305409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242124"/>
                </a:solidFill>
                <a:latin typeface="Arial"/>
              </a:defRPr>
            </a:pPr>
            <a:r>
              <a:t>Kaunseling dan kesejahteraan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4" y="1874519"/>
            <a:ext cx="3511296" cy="1984248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2103120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UTM Career Centre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3090672"/>
            <a:ext cx="305409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242124"/>
                </a:solidFill>
                <a:latin typeface="Arial"/>
              </a:defRPr>
            </a:pPr>
            <a:r>
              <a:t>Kerjaya dan kebolehpasaran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096512"/>
            <a:ext cx="3511296" cy="1984248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2511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University Sport Excellence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12664"/>
            <a:ext cx="305409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242124"/>
                </a:solidFill>
                <a:latin typeface="Arial"/>
              </a:defRPr>
            </a:pPr>
            <a:r>
              <a:t>Sukan dan rekreasi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4096512"/>
            <a:ext cx="3511296" cy="1984248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432511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7D0C26"/>
                </a:solidFill>
                <a:latin typeface="Arial"/>
              </a:defRPr>
            </a:pPr>
            <a:r>
              <a:t>Kemudahan, Kebajikan dan Tatatertib Pelajar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5312664"/>
            <a:ext cx="305409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242124"/>
                </a:solidFill>
                <a:latin typeface="Arial"/>
              </a:defRPr>
            </a:pPr>
            <a:r>
              <a:t>Kebajikan dan disiplin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38744" y="4096512"/>
            <a:ext cx="3511296" cy="1984248"/>
          </a:xfrm>
          <a:prstGeom prst="roundRect">
            <a:avLst>
              <a:gd name="adj" fmla="val 12000"/>
            </a:avLst>
          </a:prstGeom>
          <a:solidFill>
            <a:srgbClr val="7D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67344" y="432511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Helpdesk HEPA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5312664"/>
            <a:ext cx="305409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helpdesk.hep@utm.my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07-553 0492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Bantuan Kewangan dan Kebajikan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47672"/>
            <a:ext cx="5285232" cy="75895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055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300" b="1">
                <a:solidFill>
                  <a:srgbClr val="7D0C2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2093976"/>
            <a:ext cx="403250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7D0C26"/>
                </a:solidFill>
                <a:latin typeface="Arial"/>
              </a:defRPr>
            </a:pPr>
            <a:r>
              <a:t>Biasiswa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947672"/>
            <a:ext cx="5285232" cy="758952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213055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300" b="1">
                <a:solidFill>
                  <a:srgbClr val="7D0C2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093976"/>
            <a:ext cx="403250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7D0C26"/>
                </a:solidFill>
                <a:latin typeface="Arial"/>
              </a:defRPr>
            </a:pPr>
            <a:r>
              <a:t>PTPTN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880360"/>
            <a:ext cx="5285232" cy="75895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632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300" b="1">
                <a:solidFill>
                  <a:srgbClr val="7D0C2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3026664"/>
            <a:ext cx="403250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7D0C26"/>
                </a:solidFill>
                <a:latin typeface="Arial"/>
              </a:defRPr>
            </a:pPr>
            <a:r>
              <a:t>Zakat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880360"/>
            <a:ext cx="5285232" cy="758952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30632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300" b="1">
                <a:solidFill>
                  <a:srgbClr val="7D0C2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026664"/>
            <a:ext cx="403250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7D0C26"/>
                </a:solidFill>
                <a:latin typeface="Arial"/>
              </a:defRPr>
            </a:pPr>
            <a:r>
              <a:t>Endowmen dan Wakaf UTM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813048"/>
            <a:ext cx="5285232" cy="758952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9592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300" b="1">
                <a:solidFill>
                  <a:srgbClr val="7D0C2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3959352"/>
            <a:ext cx="403250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7D0C26"/>
                </a:solidFill>
                <a:latin typeface="Arial"/>
              </a:defRPr>
            </a:pPr>
            <a:r>
              <a:t>Bantuan sara hidup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813048"/>
            <a:ext cx="5285232" cy="758952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399592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300" b="1">
                <a:solidFill>
                  <a:srgbClr val="7D0C26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959352"/>
            <a:ext cx="403250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7D0C26"/>
                </a:solidFill>
                <a:latin typeface="Arial"/>
              </a:defRPr>
            </a:pPr>
            <a:r>
              <a:t>Because We Care Chancellor’s Fund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16936" y="5065776"/>
            <a:ext cx="6345936" cy="758952"/>
          </a:xfrm>
          <a:prstGeom prst="roundRect">
            <a:avLst>
              <a:gd name="adj" fmla="val 12000"/>
            </a:avLst>
          </a:prstGeom>
          <a:solidFill>
            <a:srgbClr val="7D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63824" y="5257800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Program Menu Rahmah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25896"/>
            <a:ext cx="109728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7D0C26"/>
                </a:solidFill>
                <a:latin typeface="Arial"/>
              </a:defRPr>
            </a:pPr>
            <a:r>
              <a:t>Maklumat lanjut: Jabatan TNC (Hal Ehwal Pelajar dan Alumni)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Tatatertib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38528"/>
            <a:ext cx="6583680" cy="4197096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7D0C26"/>
                </a:solidFill>
                <a:latin typeface="Arial"/>
              </a:defRPr>
            </a:pPr>
            <a:r>
              <a:t>SEMUA MAHASISWA TERTAKLUK KEPADA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52928"/>
            <a:ext cx="6035040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7D0C26"/>
                </a:solidFill>
                <a:latin typeface="Arial"/>
              </a:defRPr>
            </a:pPr>
            <a:r>
              <a:t>Kaedah-Kaedah Universiti dan Kolej Universiti (Universiti Teknologi Malaysia) (Tatatertib Pelajar)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550408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900" b="0">
                <a:solidFill>
                  <a:srgbClr val="242124"/>
                </a:solidFill>
                <a:latin typeface="Arial"/>
              </a:defRPr>
            </a:pPr>
            <a:r>
              <a:t>Berkuat kuasa 1 November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938528"/>
            <a:ext cx="4114800" cy="4197096"/>
          </a:xfrm>
          <a:prstGeom prst="roundRect">
            <a:avLst>
              <a:gd name="adj" fmla="val 12000"/>
            </a:avLst>
          </a:prstGeom>
          <a:solidFill>
            <a:srgbClr val="7D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459736"/>
            <a:ext cx="347472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3500" b="1">
                <a:solidFill>
                  <a:srgbClr val="FFFFFF"/>
                </a:solidFill>
                <a:latin typeface="Arial"/>
              </a:defRPr>
            </a:pPr>
            <a:r>
              <a:t>SIFAR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3500" b="1">
                <a:solidFill>
                  <a:srgbClr val="FFFFFF"/>
                </a:solidFill>
                <a:latin typeface="Arial"/>
              </a:defRPr>
            </a:pPr>
            <a:r>
              <a:t>TOLERANSI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977639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600" b="1">
                <a:solidFill>
                  <a:srgbClr val="DDAA35"/>
                </a:solidFill>
                <a:latin typeface="Arial"/>
              </a:defRPr>
            </a:pPr>
            <a:r>
              <a:t>terhadap buli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074920"/>
            <a:ext cx="34747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Laporkan segera kepada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2100" b="0">
                <a:solidFill>
                  <a:srgbClr val="FFFFFF"/>
                </a:solidFill>
                <a:latin typeface="Arial"/>
              </a:defRPr>
            </a:pPr>
            <a:r>
              <a:t>FELOW atau Pejabat Kolej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Program Utama MMM 2026/2027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83664"/>
            <a:ext cx="2551176" cy="4133087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883664"/>
            <a:ext cx="2551176" cy="914400"/>
          </a:xfrm>
          <a:prstGeom prst="roundRect">
            <a:avLst>
              <a:gd name="adj" fmla="val 12000"/>
            </a:avLst>
          </a:prstGeom>
          <a:solidFill>
            <a:srgbClr val="7D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011680"/>
            <a:ext cx="222199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4 Okt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414016"/>
            <a:ext cx="2221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Ahad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081528"/>
            <a:ext cx="2130552" cy="2660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Perasmian dan Bacaan Ikrar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Sesi Libat Urus bersama Naib Canselor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Perasmian Logo Kolej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1883664"/>
            <a:ext cx="2551176" cy="4133087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47288" y="1883664"/>
            <a:ext cx="2551176" cy="914400"/>
          </a:xfrm>
          <a:prstGeom prst="roundRect">
            <a:avLst>
              <a:gd name="adj" fmla="val 12000"/>
            </a:avLst>
          </a:prstGeom>
          <a:solidFill>
            <a:srgbClr val="DDA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11680"/>
            <a:ext cx="222199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400" b="1">
                <a:solidFill>
                  <a:srgbClr val="7D0C26"/>
                </a:solidFill>
                <a:latin typeface="Arial"/>
              </a:defRPr>
            </a:pPr>
            <a:r>
              <a:t>5 Okt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414016"/>
            <a:ext cx="2221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7D0C26"/>
                </a:solidFill>
                <a:latin typeface="Arial"/>
              </a:defRPr>
            </a:pPr>
            <a:r>
              <a:t>Isnin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81528"/>
            <a:ext cx="2130552" cy="2660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Sesi Libat Urus Menjalankan Tugas Pengetua dan Pengurusan Kolej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Sesi Libat Urus bersama TNC HEPA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1883664"/>
            <a:ext cx="2551176" cy="4133087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0216" y="1883664"/>
            <a:ext cx="2551176" cy="914400"/>
          </a:xfrm>
          <a:prstGeom prst="roundRect">
            <a:avLst>
              <a:gd name="adj" fmla="val 12000"/>
            </a:avLst>
          </a:prstGeom>
          <a:solidFill>
            <a:srgbClr val="7D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011680"/>
            <a:ext cx="222199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6 Okt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414016"/>
            <a:ext cx="2221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Selasa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081528"/>
            <a:ext cx="2130552" cy="2660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Slot Anti Buli (PDRM)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Profiling Pelajar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Sesi bersama MPP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53144" y="1883664"/>
            <a:ext cx="2551176" cy="4133087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53144" y="1883664"/>
            <a:ext cx="2551176" cy="914400"/>
          </a:xfrm>
          <a:prstGeom prst="roundRect">
            <a:avLst>
              <a:gd name="adj" fmla="val 12000"/>
            </a:avLst>
          </a:prstGeom>
          <a:solidFill>
            <a:srgbClr val="7D0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7736" y="2011680"/>
            <a:ext cx="2221992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7 Okt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2414016"/>
            <a:ext cx="222199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Rabu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3081528"/>
            <a:ext cx="2130552" cy="2660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Karnival Sukan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Eksplorasi Kampus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  <a:defRPr sz="1600" b="0">
                <a:solidFill>
                  <a:srgbClr val="242124"/>
                </a:solidFill>
                <a:latin typeface="Arial"/>
              </a:defRPr>
            </a:pPr>
            <a:r>
              <a:t>Malam Kebudayaan (tema Vintage)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172200"/>
            <a:ext cx="109728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400" b="1">
                <a:solidFill>
                  <a:srgbClr val="7D0C26"/>
                </a:solidFill>
                <a:latin typeface="Arial"/>
              </a:defRPr>
            </a:pPr>
            <a:r>
              <a:t>Sesi malam: Dewan Sultan Iskandar, 8.30 malam  |  Kod pakaian: Smart Casual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9518" y="292608"/>
            <a:ext cx="1512722" cy="512064"/>
          </a:xfrm>
          <a:prstGeom prst="rect">
            <a:avLst/>
          </a:prstGeom>
        </p:spPr>
      </p:pic>
      <p:pic>
        <p:nvPicPr>
          <p:cNvPr id="3" name="Picture 2" descr="ascend-2030-colou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7620" y="310896"/>
            <a:ext cx="1587439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62595D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1109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3000" b="1">
                <a:solidFill>
                  <a:srgbClr val="7D0C26"/>
                </a:solidFill>
                <a:latin typeface="Arial"/>
              </a:defRPr>
            </a:pPr>
            <a:r>
              <a:t>Hubungi Kami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62595D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7D0C26"/>
                </a:solidFill>
                <a:latin typeface="Arial"/>
              </a:defRPr>
            </a:pPr>
            <a:r>
              <a:t>26</a:t>
            </a:r>
          </a:p>
        </p:txBody>
      </p:sp>
      <p:pic>
        <p:nvPicPr>
          <p:cNvPr id="8" name="Picture 7" descr="UTMCOL_KTR-01.png"/>
          <p:cNvPicPr>
            <a:picLocks noChangeAspect="1"/>
          </p:cNvPicPr>
          <p:nvPr/>
        </p:nvPicPr>
        <p:blipFill>
          <a:blip r:embed="rId4"/>
          <a:srcRect l="32875" t="19556" r="32875" b="19556"/>
          <a:stretch>
            <a:fillRect/>
          </a:stretch>
        </p:blipFill>
        <p:spPr>
          <a:xfrm>
            <a:off x="960120" y="2121408"/>
            <a:ext cx="3749039" cy="37490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303520" y="1847088"/>
            <a:ext cx="6263640" cy="905256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965960"/>
            <a:ext cx="5806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400" b="1">
                <a:solidFill>
                  <a:srgbClr val="7D0C26"/>
                </a:solidFill>
                <a:latin typeface="Arial"/>
              </a:defRPr>
            </a:pPr>
            <a:r>
              <a:t>Pejabat Kolej Tun Razak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304288"/>
            <a:ext cx="5806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300" b="1">
                <a:solidFill>
                  <a:srgbClr val="242124"/>
                </a:solidFill>
                <a:latin typeface="Arial"/>
              </a:defRPr>
            </a:pPr>
            <a:r>
              <a:t>Blok K01, UTM Johor Bahru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916936"/>
            <a:ext cx="6263640" cy="905256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3035808"/>
            <a:ext cx="5806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400" b="1">
                <a:solidFill>
                  <a:srgbClr val="7D0C26"/>
                </a:solidFill>
                <a:latin typeface="Arial"/>
              </a:defRPr>
            </a:pPr>
            <a:r>
              <a:t>Telefon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3374136"/>
            <a:ext cx="5806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300" b="1">
                <a:solidFill>
                  <a:srgbClr val="242124"/>
                </a:solidFill>
                <a:latin typeface="Arial"/>
              </a:defRPr>
            </a:pPr>
            <a:r>
              <a:t>07-553 0542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986783"/>
            <a:ext cx="6263640" cy="905256"/>
          </a:xfrm>
          <a:prstGeom prst="roundRect">
            <a:avLst>
              <a:gd name="adj" fmla="val 12000"/>
            </a:avLst>
          </a:prstGeom>
          <a:solidFill>
            <a:srgbClr val="F6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4105655"/>
            <a:ext cx="5806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400" b="1">
                <a:solidFill>
                  <a:srgbClr val="7D0C26"/>
                </a:solidFill>
                <a:latin typeface="Arial"/>
              </a:defRPr>
            </a:pPr>
            <a:r>
              <a:t>E-mel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443983"/>
            <a:ext cx="5806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300" b="1">
                <a:solidFill>
                  <a:srgbClr val="242124"/>
                </a:solidFill>
                <a:latin typeface="Arial"/>
              </a:defRPr>
            </a:pPr>
            <a:r>
              <a:t>ktr@utm.my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5056631"/>
            <a:ext cx="6263640" cy="905256"/>
          </a:xfrm>
          <a:prstGeom prst="roundRect">
            <a:avLst>
              <a:gd name="adj" fmla="val 12000"/>
            </a:avLst>
          </a:prstGeom>
          <a:solidFill>
            <a:srgbClr val="FB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5175503"/>
            <a:ext cx="58064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400" b="1">
                <a:solidFill>
                  <a:srgbClr val="7D0C26"/>
                </a:solidFill>
                <a:latin typeface="Arial"/>
              </a:defRPr>
            </a:pPr>
            <a:r>
              <a:t>Helpdesk HEPA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5513831"/>
            <a:ext cx="5806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300" b="1">
                <a:solidFill>
                  <a:srgbClr val="242124"/>
                </a:solidFill>
                <a:latin typeface="Arial"/>
              </a:defRPr>
            </a:pPr>
            <a:r>
              <a:t>helpdesk.hep@utm.my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0C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utm-revers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7121" y="292608"/>
            <a:ext cx="1577516" cy="512064"/>
          </a:xfrm>
          <a:prstGeom prst="rect">
            <a:avLst/>
          </a:prstGeom>
        </p:spPr>
      </p:pic>
      <p:pic>
        <p:nvPicPr>
          <p:cNvPr id="3" name="Picture 2" descr="ascend-2030-whit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33141" y="310896"/>
            <a:ext cx="1576397" cy="4846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41448" y="41148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KOLEJ TUN RAZAK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900" b="0">
                <a:solidFill>
                  <a:srgbClr val="FFFFFF"/>
                </a:solidFill>
                <a:latin typeface="Arial"/>
              </a:defRPr>
            </a:pPr>
            <a:r>
              <a:t>MMM 2026/2027  |  KOLEJ TUN RAZAK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66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27</a:t>
            </a:r>
          </a:p>
        </p:txBody>
      </p:sp>
      <p:pic>
        <p:nvPicPr>
          <p:cNvPr id="7" name="Picture 6" descr="s24-6.jpg"/>
          <p:cNvPicPr>
            <a:picLocks noChangeAspect="1"/>
          </p:cNvPicPr>
          <p:nvPr/>
        </p:nvPicPr>
        <p:blipFill>
          <a:blip r:embed="rId4"/>
          <a:srcRect l="807" r="807"/>
          <a:stretch>
            <a:fillRect/>
          </a:stretch>
        </p:blipFill>
        <p:spPr>
          <a:xfrm>
            <a:off x="5065776" y="1261872"/>
            <a:ext cx="6501384" cy="4956048"/>
          </a:xfrm>
          <a:prstGeom prst="rect">
            <a:avLst/>
          </a:prstGeom>
        </p:spPr>
      </p:pic>
      <p:pic>
        <p:nvPicPr>
          <p:cNvPr id="8" name="Picture 7" descr="UTMCOL_KTR-02.png"/>
          <p:cNvPicPr>
            <a:picLocks noChangeAspect="1"/>
          </p:cNvPicPr>
          <p:nvPr/>
        </p:nvPicPr>
        <p:blipFill>
          <a:blip r:embed="rId5"/>
          <a:srcRect l="32875" t="19556" r="32875" b="19556"/>
          <a:stretch>
            <a:fillRect/>
          </a:stretch>
        </p:blipFill>
        <p:spPr>
          <a:xfrm>
            <a:off x="594360" y="1490472"/>
            <a:ext cx="1252728" cy="1252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017520"/>
            <a:ext cx="4206240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4600" b="1">
                <a:solidFill>
                  <a:srgbClr val="FFFFFF"/>
                </a:solidFill>
                <a:latin typeface="Arial"/>
              </a:defRPr>
            </a:pPr>
            <a:r>
              <a:t>Terima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4600" b="1">
                <a:solidFill>
                  <a:srgbClr val="FFFFFF"/>
                </a:solidFill>
                <a:latin typeface="Arial"/>
              </a:defRPr>
            </a:pPr>
            <a:r>
              <a:t>Kasih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55464"/>
            <a:ext cx="4261104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Menerajui Kecemerlangan,</a:t>
            </a:r>
          </a:p>
          <a:p>
            <a:pPr algn="l">
              <a:lnSpc>
                <a:spcPct val="108000"/>
              </a:lnSpc>
              <a:spcAft>
                <a:spcPts val="5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Meniti Kegemilangan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Aluan Menjalankan Tugas Pengetua Kolej Tun Razak — MMM 2026/2027</dc:title>
  <dc:subject>Penampilan diperkemas mengikut aset UTM Branding; sitasi Scopus 886</dc:subject>
  <dc:creator>Kolej Tun Razak, Universiti Teknologi Malaysia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